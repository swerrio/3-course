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86" r:id="rId7"/>
    <p:sldId id="279" r:id="rId8"/>
    <p:sldId id="258" r:id="rId9"/>
    <p:sldId id="280" r:id="rId10"/>
    <p:sldId id="281" r:id="rId11"/>
    <p:sldId id="282" r:id="rId12"/>
    <p:sldId id="266" r:id="rId13"/>
    <p:sldId id="271" r:id="rId1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 varScale="1">
        <p:scale>
          <a:sx n="100" d="100"/>
          <a:sy n="100" d="100"/>
        </p:scale>
        <p:origin x="990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3" d="2"/>
        <a:sy n="3" d="2"/>
      </p:scale>
      <p:origin x="-6" y="-18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3984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61D17ACC-377E-4FC0-B594-0259E4F18B53}" type="datetime1">
              <a:rPr lang="ru-RU" smtClean="0"/>
              <a:t>06.05.2026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28EEFA9E-C190-4F5C-8394-BD5F1CD55C0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A94106A3-03A6-4269-91E5-6C81A63C5F07}" type="datetime1">
              <a:rPr lang="ru-RU" smtClean="0"/>
              <a:pPr/>
              <a:t>06.05.2026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22289C57-55D7-40A4-A101-E74FAC7A092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14143-DD60-6D2B-42A2-3E0336EDA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9AB04F2-D610-7B7C-EAEE-5CDCC2345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7424ED6-8DE1-E249-419B-DED5307D3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CF8920-E12E-8EC0-19CD-1F0046FE4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2062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2289C57-55D7-40A4-A101-E74FAC7A092B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rtlCol="0" anchor="ctr">
            <a:noAutofit/>
          </a:bodyPr>
          <a:lstStyle>
            <a:lvl1pPr algn="l">
              <a:defRPr lang="ru-RU" sz="3600" spc="150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Повест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rtlCol="0" anchor="b">
            <a:normAutofit/>
          </a:bodyPr>
          <a:lstStyle>
            <a:lvl1pPr>
              <a:defRPr lang="ru-RU"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 rtlCol="0"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lang="ru-RU"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lang="ru-RU"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lang="ru-RU"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lang="ru-RU"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lang="ru-RU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rtlCol="0" anchor="b">
            <a:noAutofit/>
          </a:bodyPr>
          <a:lstStyle>
            <a:lvl1pPr algn="l">
              <a:defRPr lang="ru-RU" sz="3600" spc="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rtlCol="0" anchor="b">
            <a:noAutofit/>
          </a:bodyPr>
          <a:lstStyle>
            <a:lvl1pPr algn="l">
              <a:defRPr lang="ru-RU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 rtlCol="0">
            <a:norm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ступл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rtlCol="0" anchor="b">
            <a:normAutofit/>
          </a:bodyPr>
          <a:lstStyle>
            <a:lvl1pPr>
              <a:defRPr lang="ru-RU" sz="28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sp>
        <p:nvSpPr>
          <p:cNvPr id="3" name="Объект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rtlCol="0" anchor="b">
            <a:noAutofit/>
          </a:bodyPr>
          <a:lstStyle>
            <a:lvl1pPr algn="l">
              <a:defRPr lang="ru-RU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pic>
        <p:nvPicPr>
          <p:cNvPr id="4" name="Графический объект 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одержимого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rtlCol="0" anchor="b">
            <a:normAutofit/>
          </a:bodyPr>
          <a:lstStyle>
            <a:lvl1pPr>
              <a:defRPr lang="ru-RU" sz="28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ru-RU" sz="1800" b="1" kern="1200" spc="5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  <p:sp>
        <p:nvSpPr>
          <p:cNvPr id="7" name="Объект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ru-RU" sz="1800" b="1" kern="1200" spc="5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 содержимого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rtlCol="0" anchor="b">
            <a:normAutofit/>
          </a:bodyPr>
          <a:lstStyle>
            <a:lvl1pPr>
              <a:defRPr lang="ru-RU" sz="28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Текст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ru-RU" sz="1800" b="1" kern="1200" spc="5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 rtlCol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lang="ru-RU"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ru-RU"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ru-RU"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ru-RU"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ru-RU" sz="1800" b="1" kern="1200" spc="5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  <p:sp>
        <p:nvSpPr>
          <p:cNvPr id="3" name="Объект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9" name="Нижний колонтитул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rtlCol="0" anchor="b">
            <a:normAutofit/>
          </a:bodyPr>
          <a:lstStyle>
            <a:lvl1pPr>
              <a:defRPr lang="ru-RU" sz="28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 rtlCol="0">
            <a:normAutofit/>
          </a:bodyPr>
          <a:lstStyle>
            <a:lvl1pPr marL="0" indent="0" algn="l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Объект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 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 rtlCol="0">
            <a:normAutofit/>
          </a:bodyPr>
          <a:lstStyle>
            <a:lvl1pPr algn="l">
              <a:defRPr lang="ru-RU" sz="24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sp>
        <p:nvSpPr>
          <p:cNvPr id="3" name="Объект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Заполнитель таблицы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rtlCol="0" anchor="b">
            <a:normAutofit/>
          </a:bodyPr>
          <a:lstStyle>
            <a:lvl1pPr>
              <a:defRPr lang="ru-RU" sz="28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rtlCol="0" anchor="ctr">
            <a:noAutofit/>
          </a:bodyPr>
          <a:lstStyle>
            <a:lvl1pPr marL="0" indent="0">
              <a:buNone/>
              <a:defRPr lang="ru-RU" sz="1800" b="1" kern="1200" spc="5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ru-RU"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ru-RU"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ru-RU"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ru-RU"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rtlCol="0" anchor="ctr">
            <a:noAutofit/>
          </a:bodyPr>
          <a:lstStyle>
            <a:lvl1pPr marL="0" indent="0">
              <a:buNone/>
              <a:defRPr lang="ru-RU" sz="1800" b="1" kern="1200" spc="5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  <p:sp>
        <p:nvSpPr>
          <p:cNvPr id="7" name="Объект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ru-RU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1800" spc="50" baseline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rtlCol="0" anchor="b">
            <a:normAutofit/>
          </a:bodyPr>
          <a:lstStyle>
            <a:lvl1pPr algn="ctr">
              <a:defRPr lang="ru-RU" sz="2800" kern="1200" spc="15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dirty="0"/>
              <a:t>ЩЕЛКНИТЕ, ЧТОБЫ добавить заголовок</a:t>
            </a:r>
          </a:p>
        </p:txBody>
      </p:sp>
      <p:sp>
        <p:nvSpPr>
          <p:cNvPr id="8" name="Заполнитель таблицы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ключен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lang="ru-RU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lang="ru-RU"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pic>
        <p:nvPicPr>
          <p:cNvPr id="6" name="Графический объект 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Нижний колонтитул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 rtlCol="0"/>
          <a:lstStyle>
            <a:lvl1pPr algn="l">
              <a:defRPr lang="ru-RU" sz="900"/>
            </a:lvl1pPr>
          </a:lstStyle>
          <a:p>
            <a:pPr rtl="0"/>
            <a:r>
              <a:rPr lang="ru-RU"/>
              <a:t>НАЗВАНИЕ ПРЕЗЕНТАЦИИ</a:t>
            </a:r>
          </a:p>
        </p:txBody>
      </p:sp>
      <p:sp>
        <p:nvSpPr>
          <p:cNvPr id="11" name="Номер слайда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lang="ru-RU" sz="900"/>
            </a:lvl1pPr>
          </a:lstStyle>
          <a:p>
            <a:pPr rtl="0"/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A49DFD55-3C28-40EF-9E31-A92D2E4017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eg"/><Relationship Id="rId5" Type="http://schemas.microsoft.com/office/2007/relationships/hdphoto" Target="../media/hdphoto2.wdp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Описание: Logo dstu(конечный)">
            <a:extLst>
              <a:ext uri="{FF2B5EF4-FFF2-40B4-BE49-F238E27FC236}">
                <a16:creationId xmlns:a16="http://schemas.microsoft.com/office/drawing/2014/main" id="{98FCD534-55C1-516C-0023-1260B62BE52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052" y="91453"/>
            <a:ext cx="513896" cy="56690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57C5CE-DA10-4D1A-3D47-558C9A6BB1A7}"/>
              </a:ext>
            </a:extLst>
          </p:cNvPr>
          <p:cNvSpPr txBox="1"/>
          <p:nvPr/>
        </p:nvSpPr>
        <p:spPr>
          <a:xfrm>
            <a:off x="3048000" y="690445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</a:t>
            </a:r>
            <a:b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 ВЫСШЕГО ОБРАЗОВАНИЯ</a:t>
            </a:r>
            <a:b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«ДОНСКОЙ ГОСУДАРСТВЕННЫЙ ТЕХНИЧЕСКИЙ УНИВЕРСИТЕТ»</a:t>
            </a:r>
            <a:b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ТЕХНОЛОГИЧЕКИЙ  ИНСТИТУТ (ФИЛИАЛ) ДГТУ в г. Азове</a:t>
            </a:r>
            <a:b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88F32-56E8-B4B9-2ADA-883BACAD85B3}"/>
              </a:ext>
            </a:extLst>
          </p:cNvPr>
          <p:cNvSpPr txBox="1"/>
          <p:nvPr/>
        </p:nvSpPr>
        <p:spPr>
          <a:xfrm>
            <a:off x="2967037" y="3129085"/>
            <a:ext cx="62579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Разработка программы для планирования спортивных тренировок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A42DC-B861-B8CA-0D66-5981223BA1F5}"/>
              </a:ext>
            </a:extLst>
          </p:cNvPr>
          <p:cNvSpPr txBox="1"/>
          <p:nvPr/>
        </p:nvSpPr>
        <p:spPr>
          <a:xfrm>
            <a:off x="3138487" y="60732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1800" b="1" dirty="0">
                <a:solidFill>
                  <a:schemeClr val="tx2">
                    <a:lumMod val="50000"/>
                  </a:schemeClr>
                </a:solidFill>
                <a:latin typeface="Palatino Linotype" panose="02040502050505030304" pitchFamily="18" charset="0"/>
              </a:rPr>
              <a:t>Руководитель: Запорожец Олег Игоревич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4DA447-4686-4043-691B-2DF902455B81}"/>
              </a:ext>
            </a:extLst>
          </p:cNvPr>
          <p:cNvSpPr txBox="1"/>
          <p:nvPr/>
        </p:nvSpPr>
        <p:spPr>
          <a:xfrm>
            <a:off x="3047999" y="44159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1800" dirty="0">
                <a:solidFill>
                  <a:schemeClr val="tx2">
                    <a:lumMod val="50000"/>
                  </a:schemeClr>
                </a:solidFill>
                <a:latin typeface="Palatino Linotype" panose="02040502050505030304" pitchFamily="18" charset="0"/>
              </a:rPr>
              <a:t>Группа: ИСП-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Palatino Linotype" panose="02040502050505030304" pitchFamily="18" charset="0"/>
              </a:rPr>
              <a:t>3</a:t>
            </a:r>
            <a:r>
              <a:rPr lang="ru-RU" sz="1800" dirty="0">
                <a:solidFill>
                  <a:schemeClr val="tx2">
                    <a:lumMod val="50000"/>
                  </a:schemeClr>
                </a:solidFill>
                <a:latin typeface="Palatino Linotype" panose="02040502050505030304" pitchFamily="18" charset="0"/>
              </a:rPr>
              <a:t>-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Palatino Linotype" panose="02040502050505030304" pitchFamily="18" charset="0"/>
              </a:rPr>
              <a:t>27</a:t>
            </a:r>
            <a:endParaRPr lang="ru-RU" sz="1800" dirty="0">
              <a:solidFill>
                <a:schemeClr val="tx2">
                  <a:lumMod val="50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F98E82-B185-AA64-99EC-FBC89E7C1455}"/>
              </a:ext>
            </a:extLst>
          </p:cNvPr>
          <p:cNvSpPr txBox="1"/>
          <p:nvPr/>
        </p:nvSpPr>
        <p:spPr>
          <a:xfrm>
            <a:off x="3047999" y="40405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chemeClr val="tx2">
                    <a:lumMod val="50000"/>
                  </a:schemeClr>
                </a:solidFill>
                <a:latin typeface="Palatino Linotype" panose="02040502050505030304" pitchFamily="18" charset="0"/>
              </a:rPr>
              <a:t>Выполнил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Palatino Linotype" panose="02040502050505030304" pitchFamily="18" charset="0"/>
              </a:rPr>
              <a:t>: </a:t>
            </a:r>
            <a:r>
              <a:rPr lang="ru-RU" sz="1800" dirty="0">
                <a:solidFill>
                  <a:schemeClr val="tx2">
                    <a:lumMod val="50000"/>
                  </a:schemeClr>
                </a:solidFill>
                <a:latin typeface="Palatino Linotype" panose="02040502050505030304" pitchFamily="18" charset="0"/>
              </a:rPr>
              <a:t>Шеменев Владимир Вячеславович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714875" cy="590550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r>
              <a:rPr lang="ru-RU" dirty="0"/>
              <a:t>Цель 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2386" y="3519560"/>
            <a:ext cx="2895600" cy="67878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A49DFD55-3C28-40EF-9E31-A92D2E4017F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A1B0D-4C0A-4A78-6F3C-DCA7566B6146}"/>
              </a:ext>
            </a:extLst>
          </p:cNvPr>
          <p:cNvSpPr txBox="1"/>
          <p:nvPr/>
        </p:nvSpPr>
        <p:spPr>
          <a:xfrm>
            <a:off x="-38099" y="4369863"/>
            <a:ext cx="6148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4AE65-5428-CCD9-8844-10416D4E3F2E}"/>
              </a:ext>
            </a:extLst>
          </p:cNvPr>
          <p:cNvSpPr txBox="1"/>
          <p:nvPr/>
        </p:nvSpPr>
        <p:spPr>
          <a:xfrm>
            <a:off x="-38099" y="5157583"/>
            <a:ext cx="6148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344E11-27EC-50EC-2A3C-120B6814575D}"/>
              </a:ext>
            </a:extLst>
          </p:cNvPr>
          <p:cNvSpPr txBox="1"/>
          <p:nvPr/>
        </p:nvSpPr>
        <p:spPr>
          <a:xfrm>
            <a:off x="-52386" y="5956239"/>
            <a:ext cx="61483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F4C284-5380-D96A-D3DB-20384E4E4031}"/>
              </a:ext>
            </a:extLst>
          </p:cNvPr>
          <p:cNvSpPr txBox="1"/>
          <p:nvPr/>
        </p:nvSpPr>
        <p:spPr>
          <a:xfrm>
            <a:off x="-40481" y="3832036"/>
            <a:ext cx="57816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изучение структуры данных тренировочного </a:t>
            </a:r>
            <a:r>
              <a:rPr lang="ru-RU" sz="1600" dirty="0">
                <a:solidFill>
                  <a:schemeClr val="bg1"/>
                </a:solidFill>
              </a:rPr>
              <a:t>процесса</a:t>
            </a:r>
            <a:r>
              <a:rPr lang="ru-RU" dirty="0">
                <a:solidFill>
                  <a:schemeClr val="bg1"/>
                </a:solidFill>
              </a:rPr>
              <a:t> и существующих аналогов.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685861-D7D8-3E11-B2C5-E31A9051BB7A}"/>
              </a:ext>
            </a:extLst>
          </p:cNvPr>
          <p:cNvSpPr txBox="1"/>
          <p:nvPr/>
        </p:nvSpPr>
        <p:spPr>
          <a:xfrm>
            <a:off x="-40481" y="4664207"/>
            <a:ext cx="46339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выбор технологического стека (C#, </a:t>
            </a:r>
            <a:r>
              <a:rPr lang="ru-RU" sz="1600" dirty="0" err="1">
                <a:solidFill>
                  <a:schemeClr val="bg1"/>
                </a:solidFill>
              </a:rPr>
              <a:t>WinForms</a:t>
            </a:r>
            <a:r>
              <a:rPr lang="ru-RU" sz="1600" dirty="0">
                <a:solidFill>
                  <a:schemeClr val="bg1"/>
                </a:solidFill>
              </a:rPr>
              <a:t>, JSON) и разработка архитектуры приложения.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282168-1E80-F772-C58E-14165482920D}"/>
              </a:ext>
            </a:extLst>
          </p:cNvPr>
          <p:cNvSpPr txBox="1"/>
          <p:nvPr/>
        </p:nvSpPr>
        <p:spPr>
          <a:xfrm>
            <a:off x="-40481" y="5410517"/>
            <a:ext cx="49815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создание </a:t>
            </a:r>
            <a:r>
              <a:rPr lang="ru-RU" sz="1400" dirty="0">
                <a:solidFill>
                  <a:schemeClr val="bg1"/>
                </a:solidFill>
              </a:rPr>
              <a:t>графического</a:t>
            </a:r>
            <a:r>
              <a:rPr lang="ru-RU" sz="1600" dirty="0">
                <a:solidFill>
                  <a:schemeClr val="bg1"/>
                </a:solidFill>
              </a:rPr>
              <a:t> интерфейса и программной логики обработки данных.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204468-9F04-9E92-AE14-00CA14575345}"/>
              </a:ext>
            </a:extLst>
          </p:cNvPr>
          <p:cNvSpPr txBox="1"/>
          <p:nvPr/>
        </p:nvSpPr>
        <p:spPr>
          <a:xfrm>
            <a:off x="-40481" y="6273225"/>
            <a:ext cx="61531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проверка функциональности, механизмов валидации и сохранения данных.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3D76F6-094F-2DBC-1F75-F9169563C47C}"/>
              </a:ext>
            </a:extLst>
          </p:cNvPr>
          <p:cNvSpPr txBox="1"/>
          <p:nvPr/>
        </p:nvSpPr>
        <p:spPr>
          <a:xfrm>
            <a:off x="-42863" y="731855"/>
            <a:ext cx="48815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Целью работы является создание автоматизированного рабочего места для планирования и учета спортивных тренировок на базе языка C#. Проект направлен на разработку автономного приложения, которое обеспечивает эффективное управление тренировочным процессом через интуитивно понятный графический интерфейс и надежную систему хранения данных в формате JSON. </a:t>
            </a:r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539F4-AF60-E4BC-8409-9D77469A5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2222AF-0711-30B1-256A-DD688FA54E95}"/>
              </a:ext>
            </a:extLst>
          </p:cNvPr>
          <p:cNvSpPr txBox="1"/>
          <p:nvPr/>
        </p:nvSpPr>
        <p:spPr>
          <a:xfrm>
            <a:off x="0" y="22181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проекта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71A3EE-F7AE-BEF6-CD93-E8A2A06C749A}"/>
              </a:ext>
            </a:extLst>
          </p:cNvPr>
          <p:cNvSpPr txBox="1"/>
          <p:nvPr/>
        </p:nvSpPr>
        <p:spPr>
          <a:xfrm>
            <a:off x="6819900" y="2938463"/>
            <a:ext cx="52292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автономного и интуитивно понятного приложения «Планировщик тренировок» представляет собой актуальное решение, позволяющее эффективно преодолеть эти барьеры и обеспечить полный контроль над персональными данными в локальной среде.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3B7C63-8DCF-3285-18AA-2A19557729C0}"/>
              </a:ext>
            </a:extLst>
          </p:cNvPr>
          <p:cNvSpPr txBox="1"/>
          <p:nvPr/>
        </p:nvSpPr>
        <p:spPr>
          <a:xfrm>
            <a:off x="4424362" y="0"/>
            <a:ext cx="7881937" cy="2938463"/>
          </a:xfrm>
          <a:prstGeom prst="snip2Diag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условиях современной цифровой трансформации и роста интереса к здоровому образу жизни автоматизация процесса мониторинга физических нагрузок становится необходимым инструментом для достижения спортивных целей. Однако многие пользователи сталкиваются с избыточной сложностью существующих мобильных сервисов и зависимостью от интернет-соединения. </a:t>
            </a:r>
            <a:endParaRPr lang="ru-RU" sz="2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1355A8-C5EC-23B8-2AB4-24B07ADBBB93}"/>
              </a:ext>
            </a:extLst>
          </p:cNvPr>
          <p:cNvSpPr txBox="1"/>
          <p:nvPr/>
        </p:nvSpPr>
        <p:spPr>
          <a:xfrm>
            <a:off x="142874" y="2569131"/>
            <a:ext cx="6200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Цифровой учет нагрузок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82C1BA-CD60-D152-2DE7-E355E2548ABD}"/>
              </a:ext>
            </a:extLst>
          </p:cNvPr>
          <p:cNvSpPr txBox="1"/>
          <p:nvPr/>
        </p:nvSpPr>
        <p:spPr>
          <a:xfrm>
            <a:off x="142874" y="4762561"/>
            <a:ext cx="6200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Автономность и надежность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45085B-2C54-9089-4FA4-30335D71F9E3}"/>
              </a:ext>
            </a:extLst>
          </p:cNvPr>
          <p:cNvSpPr txBox="1"/>
          <p:nvPr/>
        </p:nvSpPr>
        <p:spPr>
          <a:xfrm>
            <a:off x="142874" y="2791897"/>
            <a:ext cx="4562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современном мире систематизация спортивных достижений в цифровом виде является ключевым фактором прогресса и поддержания мотивации.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988FE5-1C25-546F-258D-D0C277944BFC}"/>
              </a:ext>
            </a:extLst>
          </p:cNvPr>
          <p:cNvSpPr txBox="1"/>
          <p:nvPr/>
        </p:nvSpPr>
        <p:spPr>
          <a:xfrm>
            <a:off x="142874" y="5030571"/>
            <a:ext cx="5762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потребность в локальном хранении данных без привязки к интернету делает разработку персонального планировщика актуальной альтернативой облачным сервисам.</a:t>
            </a:r>
          </a:p>
        </p:txBody>
      </p:sp>
    </p:spTree>
    <p:extLst>
      <p:ext uri="{BB962C8B-B14F-4D97-AF65-F5344CB8AC3E}">
        <p14:creationId xmlns:p14="http://schemas.microsoft.com/office/powerpoint/2010/main" val="394453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6326" y="172801"/>
            <a:ext cx="9401174" cy="73297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b="1" u="sng" dirty="0">
                <a:latin typeface="Palatino Linotype" panose="02040502050505030304" pitchFamily="18" charset="0"/>
              </a:rPr>
              <a:t>Программные</a:t>
            </a:r>
            <a:r>
              <a:rPr lang="en-US" b="1" u="sng" dirty="0">
                <a:latin typeface="Palatino Linotype" panose="02040502050505030304" pitchFamily="18" charset="0"/>
              </a:rPr>
              <a:t> </a:t>
            </a:r>
            <a:r>
              <a:rPr lang="ru-RU" b="1" u="sng" dirty="0">
                <a:latin typeface="Palatino Linotype" panose="02040502050505030304" pitchFamily="18" charset="0"/>
              </a:rPr>
              <a:t>средства</a:t>
            </a:r>
            <a:endParaRPr lang="ru-RU" b="1" u="sng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00222A-4214-3CAC-0932-ED2839AAB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7773"/>
            <a:ext cx="2028932" cy="163193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B456FF-98E8-EEB6-3D38-198EFFD42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29" y="5583764"/>
            <a:ext cx="3796856" cy="99775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115773-03E3-7C4D-4DEE-1B15047978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81" t="7006" r="3586" b="6915"/>
          <a:stretch>
            <a:fillRect/>
          </a:stretch>
        </p:blipFill>
        <p:spPr>
          <a:xfrm>
            <a:off x="8617066" y="2448209"/>
            <a:ext cx="3308234" cy="235910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8ED0337-70D9-00CF-1AE0-6BBF9DAD8E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74635" y="3048449"/>
            <a:ext cx="3126876" cy="1758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E7B688-AEFF-EF6F-3599-D2352F64ADB9}"/>
              </a:ext>
            </a:extLst>
          </p:cNvPr>
          <p:cNvSpPr txBox="1"/>
          <p:nvPr/>
        </p:nvSpPr>
        <p:spPr>
          <a:xfrm>
            <a:off x="1662217" y="801680"/>
            <a:ext cx="29492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современный объектно-ориентированный язык программирования, разработанный корпорацией Microsoft как основной язык для платформы .NET. Он сочетает в себе высокую производительность, характерную для C++, с безопасностью и простотой разработки, присущей Java.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906B6F-EFB7-8DFB-8A34-06C2B33335A9}"/>
              </a:ext>
            </a:extLst>
          </p:cNvPr>
          <p:cNvSpPr txBox="1"/>
          <p:nvPr/>
        </p:nvSpPr>
        <p:spPr>
          <a:xfrm>
            <a:off x="1755342" y="3311664"/>
            <a:ext cx="37303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полнофункциональная интегрированная среда разработки (IDE), признанная стандартом в индустрии для создания приложений на платформе .NET. Она объединяет в себе текстовый редактор, средства проектирования интерфейса, компилятор и мощный отладчик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A00AFC-1F1A-AE95-F20C-6CC63D084AF0}"/>
              </a:ext>
            </a:extLst>
          </p:cNvPr>
          <p:cNvSpPr txBox="1"/>
          <p:nvPr/>
        </p:nvSpPr>
        <p:spPr>
          <a:xfrm>
            <a:off x="9253538" y="4275898"/>
            <a:ext cx="26050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 легковесный формат обмена данными, основанный на текстовом представлении объектов в виде пар "ключ-значение". Несмотря на название, он является </a:t>
            </a:r>
            <a:r>
              <a:rPr lang="ru-RU" sz="1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языконезависимым</a:t>
            </a:r>
            <a:r>
              <a:rPr lang="ru-RU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поддерживается практически всеми современными языками программирования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4EA7E7-A743-A97B-B697-BE59B0E91494}"/>
              </a:ext>
            </a:extLst>
          </p:cNvPr>
          <p:cNvSpPr txBox="1"/>
          <p:nvPr/>
        </p:nvSpPr>
        <p:spPr>
          <a:xfrm>
            <a:off x="4013085" y="5390142"/>
            <a:ext cx="48546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классический графический программный интерфейс (API) для разработки настольных приложений под ОС Windows. В основе технологии лежит событийная модель программирования: программа ожидает действий пользователя (клик, ввод текста) и реагирует на них через обработчики событий</a:t>
            </a:r>
            <a:endParaRPr lang="ru-RU" sz="1400" dirty="0">
              <a:solidFill>
                <a:schemeClr val="bg1"/>
              </a:solidFill>
            </a:endParaRP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A469D907-6441-4069-8469-B265A78A843F}"/>
              </a:ext>
            </a:extLst>
          </p:cNvPr>
          <p:cNvCxnSpPr/>
          <p:nvPr/>
        </p:nvCxnSpPr>
        <p:spPr>
          <a:xfrm>
            <a:off x="0" y="3048449"/>
            <a:ext cx="56673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2FAF4454-80E3-C129-CC4B-A521379F97DF}"/>
              </a:ext>
            </a:extLst>
          </p:cNvPr>
          <p:cNvCxnSpPr/>
          <p:nvPr/>
        </p:nvCxnSpPr>
        <p:spPr>
          <a:xfrm>
            <a:off x="5667375" y="3048449"/>
            <a:ext cx="3200400" cy="22379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8DDC44DB-9BD0-E75C-7F9D-AAA5208DAAFF}"/>
              </a:ext>
            </a:extLst>
          </p:cNvPr>
          <p:cNvCxnSpPr>
            <a:cxnSpLocks/>
          </p:cNvCxnSpPr>
          <p:nvPr/>
        </p:nvCxnSpPr>
        <p:spPr>
          <a:xfrm>
            <a:off x="8867775" y="5286375"/>
            <a:ext cx="0" cy="1571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FF76E5C-F39A-47E7-9D9C-5D761A818B24}"/>
              </a:ext>
            </a:extLst>
          </p:cNvPr>
          <p:cNvCxnSpPr/>
          <p:nvPr/>
        </p:nvCxnSpPr>
        <p:spPr>
          <a:xfrm>
            <a:off x="0" y="5191125"/>
            <a:ext cx="8724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07333678-A36D-73E9-6520-B200A2FDEC31}"/>
              </a:ext>
            </a:extLst>
          </p:cNvPr>
          <p:cNvCxnSpPr/>
          <p:nvPr/>
        </p:nvCxnSpPr>
        <p:spPr>
          <a:xfrm flipH="1">
            <a:off x="7410450" y="4275898"/>
            <a:ext cx="47815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A49DFD55-3C28-40EF-9E31-A92D2E4017FF}" type="slidenum">
              <a:rPr lang="ru-RU" smtClean="0"/>
              <a:pPr rtl="0"/>
              <a:t>5</a:t>
            </a:fld>
            <a:endParaRPr lang="ru-RU" dirty="0"/>
          </a:p>
        </p:txBody>
      </p:sp>
      <p:pic>
        <p:nvPicPr>
          <p:cNvPr id="8" name="Рисунок 7" descr="Тетрадь купить на OZON по низкой цене (2765609677)">
            <a:extLst>
              <a:ext uri="{FF2B5EF4-FFF2-40B4-BE49-F238E27FC236}">
                <a16:creationId xmlns:a16="http://schemas.microsoft.com/office/drawing/2014/main" id="{382891A7-7FF7-AFD4-E5BA-92C0C4A09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573" y="166687"/>
            <a:ext cx="2085975" cy="20859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AD4C919-C9EC-70B4-2C82-858816DB02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175" y="85725"/>
            <a:ext cx="3501571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17ABCD5-A5B7-7F60-85E6-ACEDC8723B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166687"/>
            <a:ext cx="1802130" cy="1676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5BFFED-2700-201B-028C-D8D7C2FD0BB3}"/>
              </a:ext>
            </a:extLst>
          </p:cNvPr>
          <p:cNvSpPr txBox="1"/>
          <p:nvPr/>
        </p:nvSpPr>
        <p:spPr>
          <a:xfrm>
            <a:off x="928688" y="2252662"/>
            <a:ext cx="28241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Использование традиционных бумажных носителей сопряжено с низкой долговечностью данных и отсутствием автоматизации, что затрудняет быстрый поиск нужной записи в истории тренировок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360510-2973-9BAD-5009-48A042AD13D6}"/>
              </a:ext>
            </a:extLst>
          </p:cNvPr>
          <p:cNvSpPr txBox="1"/>
          <p:nvPr/>
        </p:nvSpPr>
        <p:spPr>
          <a:xfrm>
            <a:off x="4265385" y="1914525"/>
            <a:ext cx="27545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Популярные мобильные приложения часто перегружены избыточным социальным функционалом и интерфейсом, а также требуют обязательного интернет-соединения и платных подписок для доступа к полному набору инструментов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6EEC7E-91D5-6813-49FC-FBB28AC837E3}"/>
              </a:ext>
            </a:extLst>
          </p:cNvPr>
          <p:cNvSpPr txBox="1"/>
          <p:nvPr/>
        </p:nvSpPr>
        <p:spPr>
          <a:xfrm>
            <a:off x="7766956" y="1924050"/>
            <a:ext cx="29194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Электронные таблицы типа Microsoft Excel, несмотря на свою универсальность, остаются неудобными для оперативного ввода данных в условиях тренировки из-за отсутствия специализированных форм и автоматизированных средств валидации параметров.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4D5B84-2A30-64A6-1596-49C3E3081FAD}"/>
              </a:ext>
            </a:extLst>
          </p:cNvPr>
          <p:cNvSpPr txBox="1"/>
          <p:nvPr/>
        </p:nvSpPr>
        <p:spPr>
          <a:xfrm>
            <a:off x="2589893" y="6013588"/>
            <a:ext cx="6105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08C51F0-BE4B-5118-A065-E97AA09BAE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78" t="2365" b="8517"/>
          <a:stretch>
            <a:fillRect/>
          </a:stretch>
        </p:blipFill>
        <p:spPr>
          <a:xfrm>
            <a:off x="0" y="0"/>
            <a:ext cx="7173589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7D8034-AFD6-C717-F661-56F07BEB3340}"/>
              </a:ext>
            </a:extLst>
          </p:cNvPr>
          <p:cNvSpPr txBox="1"/>
          <p:nvPr/>
        </p:nvSpPr>
        <p:spPr>
          <a:xfrm>
            <a:off x="6638925" y="158234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latin typeface="Palatino Linotype" panose="02040502050505030304" pitchFamily="18" charset="0"/>
              </a:rPr>
              <a:t>Структурная схема </a:t>
            </a:r>
          </a:p>
          <a:p>
            <a:pPr algn="ctr"/>
            <a:r>
              <a:rPr lang="ru-RU" sz="4000" b="1" dirty="0">
                <a:latin typeface="Palatino Linotype" panose="02040502050505030304" pitchFamily="18" charset="0"/>
              </a:rPr>
              <a:t>приложения</a:t>
            </a:r>
            <a:endParaRPr lang="ru-RU" sz="4000" b="1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F743BC5-BE0D-5932-DE6A-34CF4FAB5815}"/>
              </a:ext>
            </a:extLst>
          </p:cNvPr>
          <p:cNvCxnSpPr>
            <a:cxnSpLocks/>
          </p:cNvCxnSpPr>
          <p:nvPr/>
        </p:nvCxnSpPr>
        <p:spPr>
          <a:xfrm flipH="1">
            <a:off x="5019675" y="3238500"/>
            <a:ext cx="247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A49DFD55-3C28-40EF-9E31-A92D2E4017FF}" type="slidenum">
              <a:rPr lang="ru-RU" smtClean="0"/>
              <a:pPr rtl="0"/>
              <a:t>7</a:t>
            </a:fld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C37365-DCD6-B4FC-87ED-A373708A2C09}"/>
              </a:ext>
            </a:extLst>
          </p:cNvPr>
          <p:cNvSpPr txBox="1"/>
          <p:nvPr/>
        </p:nvSpPr>
        <p:spPr>
          <a:xfrm>
            <a:off x="2924175" y="16060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Palatino Linotype" panose="02040502050505030304" pitchFamily="18" charset="0"/>
              </a:rPr>
              <a:t>Интерфейс приложения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CEA0EE3-AAE7-641A-7FE3-25303D0B7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068" y="2538412"/>
            <a:ext cx="6265107" cy="246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Номер слайда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A49DFD55-3C28-40EF-9E31-A92D2E4017FF}" type="slidenum">
              <a:rPr lang="ru-RU" smtClean="0"/>
              <a:pPr rtl="0"/>
              <a:t>8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E962BD8-A757-DA35-4833-9FF437DA7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37" y="2624137"/>
            <a:ext cx="3384081" cy="16097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7F4BED-4BC9-E605-712A-4756A4DDCAFE}"/>
              </a:ext>
            </a:extLst>
          </p:cNvPr>
          <p:cNvSpPr txBox="1"/>
          <p:nvPr/>
        </p:nvSpPr>
        <p:spPr>
          <a:xfrm>
            <a:off x="3833813" y="2802492"/>
            <a:ext cx="61055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Palatino Linotype" panose="02040502050505030304" pitchFamily="18" charset="0"/>
              </a:rPr>
              <a:t>Показ ввода значения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A49DFD55-3C28-40EF-9E31-A92D2E4017FF}" type="slidenum">
              <a:rPr lang="ru-RU" smtClean="0"/>
              <a:pPr rtl="0"/>
              <a:t>9</a:t>
            </a:fld>
            <a:endParaRPr lang="ru-RU" dirty="0"/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02AA7B0-0C5F-808A-CE8A-AEF270801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901" y="3429000"/>
            <a:ext cx="5229225" cy="182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F0BB78-78E1-F8B1-82A9-9AAB2CDBD093}"/>
              </a:ext>
            </a:extLst>
          </p:cNvPr>
          <p:cNvSpPr txBox="1"/>
          <p:nvPr/>
        </p:nvSpPr>
        <p:spPr>
          <a:xfrm>
            <a:off x="5246255" y="2109128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Palatino Linotype" panose="02040502050505030304" pitchFamily="18" charset="0"/>
              </a:rPr>
              <a:t>Показ вывода введённых данных в приложения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558800"/>
            <a:ext cx="4179570" cy="72350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1434703"/>
            <a:ext cx="4179570" cy="1054497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r>
              <a:rPr lang="ru-RU" dirty="0"/>
              <a:t>В результате выполнения курсового проекта было разработано автоматизированное рабочее место для планирования и учета тренировок на языке C#.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A49DFD55-3C28-40EF-9E31-A92D2E4017FF}" type="slidenum">
              <a:rPr lang="ru-RU" smtClean="0"/>
              <a:pPr rtl="0"/>
              <a:t>10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4CFDF8-A346-41D1-E0B2-1F69D83ECE24}"/>
              </a:ext>
            </a:extLst>
          </p:cNvPr>
          <p:cNvSpPr txBox="1"/>
          <p:nvPr/>
        </p:nvSpPr>
        <p:spPr>
          <a:xfrm>
            <a:off x="5588000" y="349402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Ключевым достижением стала реализация механизмов валидации и обработки событий, обеспечивающих защиту от некорректного ввода. Функциональное тестирование подтвердило отказоустойчивость программы, стабильность сохранения записей и корректность отображения истории упражнений. Итоговый программный продукт полностью соответствует поставленным целям, представляя собой эффективный и автономный инструмент для мониторинга спортивного прогресса.</a:t>
            </a:r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Arial"/>
      </a:majorFont>
      <a:minorFont>
        <a:latin typeface="Tenori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7041_TF67328976_Win32" id="{5020E0DF-7C16-4BDB-9142-A1F72DC8C12E}" vid="{6F8719E1-032A-49EA-88D6-D8E01ADD1115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{D10C95DF-3E74-4459-A03B-928AF03A8666}TF7521aafa-c748-4c40-a498-ba511be234dc029f3777_win32-ef4a9201936f</Template>
  <TotalTime>65</TotalTime>
  <Words>593</Words>
  <Application>Microsoft Office PowerPoint</Application>
  <PresentationFormat>Широкоэкранный</PresentationFormat>
  <Paragraphs>55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Palatino Linotype</vt:lpstr>
      <vt:lpstr>Times New Roman</vt:lpstr>
      <vt:lpstr>Тема Office</vt:lpstr>
      <vt:lpstr>Презентация PowerPoint</vt:lpstr>
      <vt:lpstr>Цель и задачи проекта</vt:lpstr>
      <vt:lpstr>Презентация PowerPoint</vt:lpstr>
      <vt:lpstr>Программные средства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Death Happe</dc:creator>
  <cp:lastModifiedBy>Death Happe</cp:lastModifiedBy>
  <cp:revision>3</cp:revision>
  <dcterms:created xsi:type="dcterms:W3CDTF">2026-05-06T15:38:30Z</dcterms:created>
  <dcterms:modified xsi:type="dcterms:W3CDTF">2026-05-06T16:44:31Z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