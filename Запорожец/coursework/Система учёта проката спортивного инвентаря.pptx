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CD73DC58-ABD3-14DA-AB51-AFEFDD705F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0416" t="71720" r="69199" b="18574"/>
          <a:stretch>
            <a:fillRect/>
          </a:stretch>
        </p:blipFill>
        <p:spPr>
          <a:xfrm rot="10800000">
            <a:off x="3693794" y="5226427"/>
            <a:ext cx="45719" cy="64633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679052"/>
            <a:ext cx="10668000" cy="2111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16"/>
              </a:lnSpc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</a:b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 </a:t>
            </a:r>
            <a:b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</a:br>
            <a:r>
              <a:rPr lang="ru-RU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ФЕДЕРАЛЬНОЕ ГОСУДАРСТВЕННОЕ БЮДЖЕТНОЕ </a:t>
            </a:r>
            <a:b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</a:br>
            <a:r>
              <a:rPr lang="ru-RU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ОБРАЗОВАТЕЛЬНОЕ УЧРЕЖДЕНИЕ ВЫСШЕГО ОБРАЗОВАНИЯ</a:t>
            </a:r>
            <a:br>
              <a:rPr lang="ru-RU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</a:br>
            <a:r>
              <a:rPr lang="ru-RU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«ДОНСКОЙ ГОСУДАРСТВЕННЫЙ ТЕХНИЧЕСКИЙ УНИВЕРСИТЕТ»</a:t>
            </a:r>
            <a:b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</a:br>
            <a:r>
              <a:rPr lang="ru-RU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 </a:t>
            </a:r>
            <a:b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</a:br>
            <a:r>
              <a:rPr lang="ru-RU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ТЕХНОЛОГИЧЕКИЙ  ИНСТИТУТ (ФИЛИАЛ) ДГТУ в г. Азове</a:t>
            </a:r>
            <a:b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</a:b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53192" y="3177353"/>
            <a:ext cx="112014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Разработка</a:t>
            </a:r>
            <a:r>
              <a:rPr lang="en-US" sz="39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9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системы</a:t>
            </a:r>
            <a:r>
              <a:rPr lang="en-US" sz="39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9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учёта</a:t>
            </a:r>
            <a:r>
              <a:rPr lang="en-US" sz="39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9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проката</a:t>
            </a:r>
            <a:r>
              <a:rPr lang="en-US" sz="39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9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спортивного</a:t>
            </a:r>
            <a:r>
              <a:rPr lang="en-US" sz="39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9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инвентаря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19892" y="2638941"/>
            <a:ext cx="10668000" cy="4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Курсовой проект на тему</a:t>
            </a:r>
            <a:r>
              <a:rPr lang="en-US" sz="19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924300" y="4903260"/>
            <a:ext cx="45529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Выполнил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Нестеренко Никита Александрович </a:t>
            </a:r>
            <a:br>
              <a:rPr lang="ru-RU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ru-RU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Групп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ru-RU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ИСП-3-27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924300" y="5549594"/>
            <a:ext cx="4552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Руководитель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Запорожец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О</a:t>
            </a:r>
            <a:r>
              <a:rPr lang="ru-RU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лег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Игоревич</a:t>
            </a:r>
            <a:endParaRPr dirty="0"/>
          </a:p>
        </p:txBody>
      </p:sp>
      <p:pic>
        <p:nvPicPr>
          <p:cNvPr id="2" name="Рисунок 1" descr="Описание: Logo dstu(конечный)">
            <a:extLst>
              <a:ext uri="{FF2B5EF4-FFF2-40B4-BE49-F238E27FC236}">
                <a16:creationId xmlns:a16="http://schemas.microsoft.com/office/drawing/2014/main" id="{DE0B025B-6989-C4B6-6E91-68337A85F51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44" y="85098"/>
            <a:ext cx="513896" cy="566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4;p13" descr="image.png">
            <a:extLst>
              <a:ext uri="{FF2B5EF4-FFF2-40B4-BE49-F238E27FC236}">
                <a16:creationId xmlns:a16="http://schemas.microsoft.com/office/drawing/2014/main" id="{13A88B12-DB07-F7A5-FDD5-F815CDBA58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0416" t="71720" r="69199" b="18574"/>
          <a:stretch>
            <a:fillRect/>
          </a:stretch>
        </p:blipFill>
        <p:spPr>
          <a:xfrm rot="10800000">
            <a:off x="3693793" y="4903260"/>
            <a:ext cx="45719" cy="646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886075"/>
            <a:ext cx="504825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20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Актуальность проекта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62000" y="11334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028950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Современный пункт проката требует высокой скорости обработки данных: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77025" y="3371850"/>
            <a:ext cx="44577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Внедрение системы позволяет полностью исключить "человеческий фактор" при расчете итоговой стоимости услуг и ведении учета.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38225" y="3752850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43000" y="3733800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Контроль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состояния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инвентаря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1038225" y="4019550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43000" y="3990975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Автоматизация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финансовых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расчетов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038225" y="4286250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43000" y="4257675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Мониторинг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соблюдения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сроков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аренды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038225" y="4552950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43000" y="4514850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Безопасное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хранение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данных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о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клиентах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88133"/>
            <a:ext cx="3397150" cy="2434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2688133"/>
            <a:ext cx="3397299" cy="2434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2688133"/>
            <a:ext cx="3397150" cy="24342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571500"/>
            <a:ext cx="1120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Цель и задачи исследования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62000" y="11334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74837" y="2983408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87109" y="3545383"/>
            <a:ext cx="294693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Цель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57275" y="3935908"/>
            <a:ext cx="280660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Разработка функционального ПО для учета проката оборудования.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726" y="2983408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4622382" y="3545383"/>
            <a:ext cx="29470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Проектирование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92550" y="3935908"/>
            <a:ext cx="2806749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Создание реляционной структуры БД в PostgreSQL.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93150" y="2983408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8257810" y="3545383"/>
            <a:ext cx="294693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Реализация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327975" y="3935908"/>
            <a:ext cx="28066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Создание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интерфейса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C#</a:t>
            </a:r>
            <a:r>
              <a:rPr lang="ru-RU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с 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Forms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03400"/>
            <a:ext cx="5048250" cy="340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571500"/>
            <a:ext cx="1120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Система авторизации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762000" y="11334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2762101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Вход в систему реализован через форму авторизации: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62000" y="4476601"/>
            <a:ext cx="504825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952500" y="4667101"/>
            <a:ext cx="46672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Используется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расширение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pgcrypto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обеспечения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криптографической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защиты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паролей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dirty="0"/>
          </a:p>
        </p:txBody>
      </p:sp>
      <p:sp>
        <p:nvSpPr>
          <p:cNvPr id="138" name="Google Shape;138;p16"/>
          <p:cNvSpPr/>
          <p:nvPr/>
        </p:nvSpPr>
        <p:spPr>
          <a:xfrm>
            <a:off x="762000" y="4476601"/>
            <a:ext cx="38100" cy="762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038225" y="3486001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43000" y="3447901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Проверка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прав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доступа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сотрудника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1038225" y="3752701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143000" y="3723977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Хэширование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паролей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в БД.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A5A2027-C772-11DA-DB13-F68AADABF33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2203400"/>
            <a:ext cx="5048251" cy="3375909"/>
          </a:xfrm>
          <a:prstGeom prst="rect">
            <a:avLst/>
          </a:prstGeom>
        </p:spPr>
      </p:pic>
      <p:sp>
        <p:nvSpPr>
          <p:cNvPr id="144" name="Google Shape;144;p16"/>
          <p:cNvSpPr txBox="1"/>
          <p:nvPr/>
        </p:nvSpPr>
        <p:spPr>
          <a:xfrm>
            <a:off x="1038225" y="4019401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143000" y="3990677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Защита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SQL-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инъекций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через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параметры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799" y="2514594"/>
            <a:ext cx="2933701" cy="234300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62000" y="571500"/>
            <a:ext cx="1120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Главное меню приложения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762000" y="11334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381750" y="3028801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Основной интерфейс администратора включает в себя: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57975" y="3752701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762750" y="3733800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Управление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списком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инвентаря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6657975" y="4019401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62750" y="3990826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Работу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с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базой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клиентов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6657975" y="4286101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62750" y="4257526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Оформление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возврат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прокатов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6657975" y="4552801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762750" y="4524226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Просмотр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финансовой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статистики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B1EDD7-0E8B-D6D4-4165-C430BC1F75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56843" b="62929"/>
          <a:stretch>
            <a:fillRect/>
          </a:stretch>
        </p:blipFill>
        <p:spPr>
          <a:xfrm>
            <a:off x="1885949" y="-721092"/>
            <a:ext cx="2838450" cy="5492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333592"/>
            <a:ext cx="3324225" cy="105743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762000" y="571500"/>
            <a:ext cx="1120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Навигация и статус системы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762000" y="11334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3257401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Для удобства работы реализована боковая панель управления.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762000" y="3981301"/>
            <a:ext cx="504825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952500" y="4171801"/>
            <a:ext cx="46672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Индикатор</a:t>
            </a:r>
            <a:r>
              <a:rPr lang="en-US" sz="1200" b="1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"БД: </a:t>
            </a:r>
            <a:r>
              <a:rPr lang="en-US" sz="1200" b="1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Онлайн</a:t>
            </a:r>
            <a:r>
              <a:rPr lang="en-US" sz="1200" b="1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подтверждает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успешное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соединение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с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сервером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PostgreSQL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каждом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запуске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dirty="0"/>
          </a:p>
        </p:txBody>
      </p:sp>
      <p:sp>
        <p:nvSpPr>
          <p:cNvPr id="175" name="Google Shape;175;p18"/>
          <p:cNvSpPr/>
          <p:nvPr/>
        </p:nvSpPr>
        <p:spPr>
          <a:xfrm>
            <a:off x="762000" y="3981301"/>
            <a:ext cx="38100" cy="76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93E15A6-382F-A9FC-5093-A148F4B4DE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0" t="29286" r="76583" b="56434"/>
          <a:stretch>
            <a:fillRect/>
          </a:stretch>
        </p:blipFill>
        <p:spPr>
          <a:xfrm>
            <a:off x="7400925" y="3429000"/>
            <a:ext cx="3165684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09" y="3118390"/>
            <a:ext cx="6009791" cy="109165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62000" y="571500"/>
            <a:ext cx="1120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Реестр операций проката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762000" y="11334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6381750" y="3070770"/>
            <a:ext cx="5048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Журнал транзакций фиксирует: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381750" y="4518570"/>
            <a:ext cx="504825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Все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данные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синхронизированы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с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таблицей</a:t>
            </a: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 БД.</a:t>
            </a:r>
            <a:endParaRPr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6657975" y="3527970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762750" y="3527970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 товара и клиента.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57975" y="3794670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762750" y="3794670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Даты и время операций.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657975" y="4061370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762750" y="4061370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Стоимость сделки.</a:t>
            </a: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5130E25-E8B2-9C52-608C-1DE995FF5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9" y="3214960"/>
            <a:ext cx="6009791" cy="892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62000" y="571500"/>
            <a:ext cx="1120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Технические решения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762000" y="11334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3412" y="3033712"/>
            <a:ext cx="3143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1057275" y="3786187"/>
            <a:ext cx="2806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Автоматический расчет цены на основе тарифов и времени.</a:t>
            </a:r>
            <a:endParaRPr/>
          </a:p>
        </p:txBody>
      </p:sp>
      <p:pic>
        <p:nvPicPr>
          <p:cNvPr id="203" name="Google Shape;20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33913" y="3033712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692550" y="3786187"/>
            <a:ext cx="280674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Система "Черных списков" для фильтрации клиентов.</a:t>
            </a:r>
            <a:endParaRPr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1725" y="303371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8327975" y="3786187"/>
            <a:ext cx="2806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Экспорт отчетности в CSV для внешнего анализа.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762000" y="571500"/>
            <a:ext cx="1120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Архитектура</a:t>
            </a:r>
            <a:r>
              <a:rPr lang="en-US" sz="3000" b="1" i="0" u="none" strike="noStrike" cap="none" dirty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00" b="1" i="0" u="none" strike="noStrike" cap="none" dirty="0" err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базы</a:t>
            </a:r>
            <a:r>
              <a:rPr lang="en-US" sz="3000" b="1" i="0" u="none" strike="noStrike" cap="none" dirty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000" b="1" i="0" u="none" strike="noStrike" cap="none" dirty="0" err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данных</a:t>
            </a:r>
            <a:endParaRPr dirty="0"/>
          </a:p>
        </p:txBody>
      </p:sp>
      <p:sp>
        <p:nvSpPr>
          <p:cNvPr id="214" name="Google Shape;214;p21"/>
          <p:cNvSpPr/>
          <p:nvPr/>
        </p:nvSpPr>
        <p:spPr>
          <a:xfrm>
            <a:off x="762000" y="11334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761999" y="2581275"/>
            <a:ext cx="86391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База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данных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реализована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PostgreSQL 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состоит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из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связанных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таблиц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217" name="Google Shape;217;p21"/>
          <p:cNvSpPr txBox="1"/>
          <p:nvPr/>
        </p:nvSpPr>
        <p:spPr>
          <a:xfrm>
            <a:off x="1038225" y="3752850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18" name="Google Shape;218;p21"/>
          <p:cNvSpPr txBox="1"/>
          <p:nvPr/>
        </p:nvSpPr>
        <p:spPr>
          <a:xfrm>
            <a:off x="1143000" y="3705225"/>
            <a:ext cx="4667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inventory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справочник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оборудования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sp>
        <p:nvSpPr>
          <p:cNvPr id="219" name="Google Shape;219;p21"/>
          <p:cNvSpPr txBox="1"/>
          <p:nvPr/>
        </p:nvSpPr>
        <p:spPr>
          <a:xfrm>
            <a:off x="1038225" y="4019550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143000" y="3962400"/>
            <a:ext cx="4667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clients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данные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о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посетителях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sp>
        <p:nvSpPr>
          <p:cNvPr id="221" name="Google Shape;221;p21"/>
          <p:cNvSpPr txBox="1"/>
          <p:nvPr/>
        </p:nvSpPr>
        <p:spPr>
          <a:xfrm>
            <a:off x="1038225" y="4286250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143000" y="4238625"/>
            <a:ext cx="4667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rentals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учет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транзакций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sp>
        <p:nvSpPr>
          <p:cNvPr id="223" name="Google Shape;223;p21"/>
          <p:cNvSpPr txBox="1"/>
          <p:nvPr/>
        </p:nvSpPr>
        <p:spPr>
          <a:xfrm>
            <a:off x="1038225" y="4552950"/>
            <a:ext cx="104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143000" y="4504200"/>
            <a:ext cx="4667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employees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права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доступа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686175"/>
            <a:ext cx="10668000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762000" y="571500"/>
            <a:ext cx="1120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Программная реализация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762000" y="11334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762000" y="303847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Использование параметризованных запросов Npgsql обеспечивает стабильность и безопасность: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24175"/>
            <a:ext cx="1066800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762000" y="571500"/>
            <a:ext cx="1120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Результаты работы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762000" y="11334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1057275" y="3409950"/>
            <a:ext cx="10077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 ходе выполнения проекта была создана информационная система, полностью автоматизирующая основные процессы пункта проката спортивного оборудования.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495300" y="2159347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Спасибо за внимание!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762000" y="3035647"/>
            <a:ext cx="10668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ru-RU" sz="180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Цель курсовой работы достигнута.</a:t>
            </a:r>
            <a:endParaRPr lang="ru-RU" sz="1800" dirty="0"/>
          </a:p>
        </p:txBody>
      </p:sp>
      <p:sp>
        <p:nvSpPr>
          <p:cNvPr id="251" name="Google Shape;251;p24"/>
          <p:cNvSpPr txBox="1"/>
          <p:nvPr/>
        </p:nvSpPr>
        <p:spPr>
          <a:xfrm>
            <a:off x="762000" y="6679852"/>
            <a:ext cx="10668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2026 | ДГТУ </a:t>
            </a:r>
            <a:r>
              <a:rPr lang="ru-RU" sz="7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Азов</a:t>
            </a:r>
            <a:endParaRPr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388</Words>
  <Application>Microsoft Office PowerPoint</Application>
  <PresentationFormat>Широкоэкранный</PresentationFormat>
  <Paragraphs>75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Inter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Guilherme Henrique</cp:lastModifiedBy>
  <cp:revision>2</cp:revision>
  <dcterms:modified xsi:type="dcterms:W3CDTF">2026-05-20T15:27:07Z</dcterms:modified>
</cp:coreProperties>
</file>